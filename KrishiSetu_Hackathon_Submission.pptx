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8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822960"/>
            <a:ext cx="3200400" cy="38404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803D"/>
                </a:solidFill>
                <a:latin typeface="Calibri"/>
              </a:defRPr>
            </a:pPr>
            <a:r>
              <a:t>🌱 SMART AGRICULTURE &amp; AI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A5276"/>
                </a:solidFill>
                <a:latin typeface="Georgia"/>
              </a:defRPr>
            </a:pPr>
            <a:r>
              <a:t>KrishiSetu (कृषिसेतू)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AI-Driven Hyperlocal Smart Farming &amp; Agricultural Decision Support System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Connecting Indian farmers to soil-smart crop planning, real-time mandi prices, weather alerts, and verified schemes in their native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328416" cy="20116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🤖 AI Soil-Crop Engine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Machine Learning model matching soil NPK, pH &amp; rainfall to predict top crops with projected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4114800"/>
            <a:ext cx="3328416" cy="20116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📈 Live Mandi &amp; Weather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Live market rates across 22 crops with satellite-powered weather &amp; pest alerts from Open-Meteo.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4114800"/>
            <a:ext cx="3328416" cy="20116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📱 100% Vernacular PWA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Fully functional in English, Hindi &amp; Marathi with real-time news translation and offline phone app.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rPr lang="en-US" dirty="0"/>
              <a:t>❖ Proposed Solution (Describe your Idea/Solution/Prototype)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rPr dirty="0"/>
              <a:t>Addressing rural agricultural vulnerabilities through a comprehensive, AI-driven decision platform.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1. Detailed Explanation of Solution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End-to-End Decision Support: </a:t>
            </a:r>
            <a:r>
              <a:rPr sz="1200">
                <a:solidFill>
                  <a:srgbClr val="334155"/>
                </a:solidFill>
              </a:rPr>
              <a:t>Guides the farmer throughout the farming cycle — pre-sowing (crop planning), cultivation (weather/pest advisory), and post-harvest (mandi pricing).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Hyperlocal ML Recommendation: </a:t>
            </a:r>
            <a:r>
              <a:rPr sz="1200">
                <a:solidFill>
                  <a:srgbClr val="334155"/>
                </a:solidFill>
              </a:rPr>
              <a:t>Random Forest model ingests 7 soil/weather variables (N, P, K, pH, Temp, Humidity, Rain) to rank top matching crops.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Economic Clarity: </a:t>
            </a:r>
            <a:r>
              <a:rPr sz="1200">
                <a:solidFill>
                  <a:srgbClr val="334155"/>
                </a:solidFill>
              </a:rPr>
              <a:t>Calculates expected yield in quintals, live mandi rate per quintal, and net expected profit (₹) before sowing a seed.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Direct Welfare Integration: </a:t>
            </a:r>
            <a:r>
              <a:rPr sz="1200">
                <a:solidFill>
                  <a:srgbClr val="334155"/>
                </a:solidFill>
              </a:rPr>
              <a:t>Verified portal links &amp; toll-free helplines for PM-KISAN, PMFBY (Fasal Bima), and Kisan Credit Card.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2. How It Addresses The Problem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Prevents Crop Failure: </a:t>
            </a:r>
            <a:r>
              <a:rPr sz="1200">
                <a:solidFill>
                  <a:srgbClr val="334155"/>
                </a:solidFill>
              </a:rPr>
              <a:t>Stops farmers from planting unsuitable crops by replacing traditional guesswork with scientific soil nutrient matching.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Eliminates Middlemen Exploitation: </a:t>
            </a:r>
            <a:r>
              <a:rPr sz="1200">
                <a:solidFill>
                  <a:srgbClr val="334155"/>
                </a:solidFill>
              </a:rPr>
              <a:t>Displays real-time transparent mandi rates so farmers negotiate fair prices instead of distress selling.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Reduces Weather &amp; Disease Loss: </a:t>
            </a:r>
            <a:r>
              <a:rPr sz="1200">
                <a:solidFill>
                  <a:srgbClr val="334155"/>
                </a:solidFill>
              </a:rPr>
              <a:t>Rule-based weather engine analyzes satellite moisture to trigger timely warnings (skip watering, fungus risks).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Removes Language Barriers: </a:t>
            </a:r>
            <a:r>
              <a:rPr sz="1200">
                <a:solidFill>
                  <a:srgbClr val="334155"/>
                </a:solidFill>
              </a:rPr>
              <a:t>Native translation in Hindi and Marathi ensures rural farmers with zero English literacy can independently use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3. Innovation &amp; Uniqueness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Profit-First Metric: </a:t>
            </a:r>
            <a:r>
              <a:rPr sz="1200">
                <a:solidFill>
                  <a:srgbClr val="334155"/>
                </a:solidFill>
              </a:rPr>
              <a:t>Unlike other apps that only output a crop name, KrishiSetu predicts expected yield and total net profit in rupees.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Dynamic Live Translation: </a:t>
            </a:r>
            <a:r>
              <a:rPr sz="1200">
                <a:solidFill>
                  <a:srgbClr val="334155"/>
                </a:solidFill>
              </a:rPr>
              <a:t>Backend AI dynamically translates live national farming RSS feeds into Hindi and Marathi on the fly.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Keyless Open Satellite Tech: </a:t>
            </a:r>
            <a:r>
              <a:rPr sz="1200">
                <a:solidFill>
                  <a:srgbClr val="334155"/>
                </a:solidFill>
              </a:rPr>
              <a:t>Uses Open-Meteo &amp; OpenStreetMap Nominatim for zero-cost, real-time village weather detection.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Installable PWA Architecture: </a:t>
            </a:r>
            <a:r>
              <a:rPr sz="1200">
                <a:solidFill>
                  <a:srgbClr val="334155"/>
                </a:solidFill>
              </a:rPr>
              <a:t>Zero app-store friction — installs directly to phone home screen in 1 click and functions smoothly on 2G/3G/4G.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15176EE-F19D-5230-241A-8B7FB44CD59C}"/>
              </a:ext>
            </a:extLst>
          </p:cNvPr>
          <p:cNvSpPr/>
          <p:nvPr/>
        </p:nvSpPr>
        <p:spPr>
          <a:xfrm>
            <a:off x="4568952" y="17983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2. How It Addresses The Problem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Prevents Crop Failure: </a:t>
            </a:r>
            <a:r>
              <a:rPr sz="1200">
                <a:solidFill>
                  <a:srgbClr val="334155"/>
                </a:solidFill>
              </a:rPr>
              <a:t>Stops farmers from planting unsuitable crops by replacing traditional guesswork with scientific soil nutrient matching.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Eliminates Middlemen Exploitation: </a:t>
            </a:r>
            <a:r>
              <a:rPr sz="1200">
                <a:solidFill>
                  <a:srgbClr val="334155"/>
                </a:solidFill>
              </a:rPr>
              <a:t>Displays real-time transparent mandi rates so farmers negotiate fair prices instead of distress selling.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Reduces Weather &amp; Disease Loss: </a:t>
            </a:r>
            <a:r>
              <a:rPr sz="1200">
                <a:solidFill>
                  <a:srgbClr val="334155"/>
                </a:solidFill>
              </a:rPr>
              <a:t>Rule-based weather engine analyzes satellite moisture to trigger timely warnings (skip watering, fungus risks).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Removes Language Barriers: </a:t>
            </a:r>
            <a:r>
              <a:rPr sz="1200">
                <a:solidFill>
                  <a:srgbClr val="334155"/>
                </a:solidFill>
              </a:rPr>
              <a:t>Native translation in Hindi and Marathi ensures rural farmers with zero English literacy can independently use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Technical Approach &amp; Implementation Methodology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Robust modern tech stack combined with an agile, 5-stage development pipeline.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276"/>
                </a:solidFill>
                <a:latin typeface="Calibri"/>
              </a:defRPr>
            </a:pPr>
            <a:r>
              <a:rPr dirty="0"/>
              <a:t>💻 Technologies to be Used</a:t>
            </a:r>
          </a:p>
          <a:p>
            <a:pPr>
              <a:spcBef>
                <a:spcPts val="1000"/>
              </a:spcBef>
            </a:pPr>
            <a:r>
              <a:rPr sz="1250" b="1" dirty="0">
                <a:solidFill>
                  <a:srgbClr val="0F172A"/>
                </a:solidFill>
              </a:rPr>
              <a:t>🔹 Frontend (Client): </a:t>
            </a:r>
            <a:r>
              <a:rPr sz="1200" dirty="0">
                <a:solidFill>
                  <a:srgbClr val="334155"/>
                </a:solidFill>
              </a:rPr>
              <a:t>React 18, TypeScript, Vite, Tailwind CSS, </a:t>
            </a:r>
            <a:r>
              <a:rPr sz="1200" dirty="0" err="1">
                <a:solidFill>
                  <a:srgbClr val="334155"/>
                </a:solidFill>
              </a:rPr>
              <a:t>Lucide</a:t>
            </a:r>
            <a:r>
              <a:rPr sz="1200" dirty="0">
                <a:solidFill>
                  <a:srgbClr val="334155"/>
                </a:solidFill>
              </a:rPr>
              <a:t> Icons, PWA (</a:t>
            </a:r>
            <a:r>
              <a:rPr sz="1200" dirty="0" err="1">
                <a:solidFill>
                  <a:srgbClr val="334155"/>
                </a:solidFill>
              </a:rPr>
              <a:t>vite</a:t>
            </a:r>
            <a:r>
              <a:rPr sz="1200" dirty="0">
                <a:solidFill>
                  <a:srgbClr val="334155"/>
                </a:solidFill>
              </a:rPr>
              <a:t>-plugin-</a:t>
            </a:r>
            <a:r>
              <a:rPr sz="1200" dirty="0" err="1">
                <a:solidFill>
                  <a:srgbClr val="334155"/>
                </a:solidFill>
              </a:rPr>
              <a:t>pwa</a:t>
            </a:r>
            <a:r>
              <a:rPr sz="1200" dirty="0">
                <a:solidFill>
                  <a:srgbClr val="334155"/>
                </a:solidFill>
              </a:rPr>
              <a:t>).</a:t>
            </a:r>
          </a:p>
          <a:p>
            <a:pPr>
              <a:spcBef>
                <a:spcPts val="1000"/>
              </a:spcBef>
            </a:pPr>
            <a:r>
              <a:rPr sz="1250" b="1" dirty="0">
                <a:solidFill>
                  <a:srgbClr val="0F172A"/>
                </a:solidFill>
              </a:rPr>
              <a:t>🔹 Backend (API Microservice): </a:t>
            </a:r>
            <a:r>
              <a:rPr sz="1200" dirty="0">
                <a:solidFill>
                  <a:srgbClr val="334155"/>
                </a:solidFill>
              </a:rPr>
              <a:t>Python 3, </a:t>
            </a:r>
            <a:r>
              <a:rPr sz="1200" dirty="0" err="1">
                <a:solidFill>
                  <a:srgbClr val="334155"/>
                </a:solidFill>
              </a:rPr>
              <a:t>FastAPI</a:t>
            </a:r>
            <a:r>
              <a:rPr sz="1200" dirty="0">
                <a:solidFill>
                  <a:srgbClr val="334155"/>
                </a:solidFill>
              </a:rPr>
              <a:t>, </a:t>
            </a:r>
            <a:r>
              <a:rPr sz="1200" dirty="0" err="1">
                <a:solidFill>
                  <a:srgbClr val="334155"/>
                </a:solidFill>
              </a:rPr>
              <a:t>Uvicorn</a:t>
            </a:r>
            <a:r>
              <a:rPr sz="1200" dirty="0">
                <a:solidFill>
                  <a:srgbClr val="334155"/>
                </a:solidFill>
              </a:rPr>
              <a:t> ASGI Server, CORS Middleware, REST APIs.</a:t>
            </a:r>
          </a:p>
          <a:p>
            <a:pPr>
              <a:spcBef>
                <a:spcPts val="1000"/>
              </a:spcBef>
            </a:pPr>
            <a:r>
              <a:rPr sz="1250" b="1" dirty="0">
                <a:solidFill>
                  <a:srgbClr val="0F172A"/>
                </a:solidFill>
              </a:rPr>
              <a:t>🔹 Machine Learning &amp; Data: </a:t>
            </a:r>
            <a:r>
              <a:rPr sz="1200" dirty="0">
                <a:solidFill>
                  <a:srgbClr val="334155"/>
                </a:solidFill>
              </a:rPr>
              <a:t>scikit-learn (Random Forest Classifier), Pandas, NumPy, </a:t>
            </a:r>
            <a:r>
              <a:rPr sz="1200" dirty="0" err="1">
                <a:solidFill>
                  <a:srgbClr val="334155"/>
                </a:solidFill>
              </a:rPr>
              <a:t>joblib</a:t>
            </a:r>
            <a:r>
              <a:rPr sz="1200" dirty="0">
                <a:solidFill>
                  <a:srgbClr val="334155"/>
                </a:solidFill>
              </a:rPr>
              <a:t> serialization.</a:t>
            </a:r>
          </a:p>
          <a:p>
            <a:pPr>
              <a:spcBef>
                <a:spcPts val="1000"/>
              </a:spcBef>
            </a:pPr>
            <a:r>
              <a:rPr sz="1250" b="1" dirty="0">
                <a:solidFill>
                  <a:srgbClr val="0F172A"/>
                </a:solidFill>
              </a:rPr>
              <a:t>🔹 Third-Party APIs: </a:t>
            </a:r>
            <a:r>
              <a:rPr sz="1200" dirty="0">
                <a:solidFill>
                  <a:srgbClr val="334155"/>
                </a:solidFill>
              </a:rPr>
              <a:t>Open-</a:t>
            </a:r>
            <a:r>
              <a:rPr sz="1200" dirty="0" err="1">
                <a:solidFill>
                  <a:srgbClr val="334155"/>
                </a:solidFill>
              </a:rPr>
              <a:t>Meteo</a:t>
            </a:r>
            <a:r>
              <a:rPr sz="1200" dirty="0">
                <a:solidFill>
                  <a:srgbClr val="334155"/>
                </a:solidFill>
              </a:rPr>
              <a:t> (Satellite Weather Radar), OpenStreetMap </a:t>
            </a:r>
            <a:r>
              <a:rPr sz="1200" dirty="0" err="1">
                <a:solidFill>
                  <a:srgbClr val="334155"/>
                </a:solidFill>
              </a:rPr>
              <a:t>Nominatim</a:t>
            </a:r>
            <a:r>
              <a:rPr sz="1200" dirty="0">
                <a:solidFill>
                  <a:srgbClr val="334155"/>
                </a:solidFill>
              </a:rPr>
              <a:t> (Village Geocoding), The Hindu RSS.</a:t>
            </a:r>
          </a:p>
          <a:p>
            <a:pPr>
              <a:spcBef>
                <a:spcPts val="1000"/>
              </a:spcBef>
            </a:pPr>
            <a:r>
              <a:rPr sz="1250" b="1" dirty="0">
                <a:solidFill>
                  <a:srgbClr val="0F172A"/>
                </a:solidFill>
              </a:rPr>
              <a:t>🔹 AI Localization: </a:t>
            </a:r>
            <a:r>
              <a:rPr sz="1200" dirty="0">
                <a:solidFill>
                  <a:srgbClr val="334155"/>
                </a:solidFill>
              </a:rPr>
              <a:t>Python deep-translator (</a:t>
            </a:r>
            <a:r>
              <a:rPr sz="1200" dirty="0" err="1">
                <a:solidFill>
                  <a:srgbClr val="334155"/>
                </a:solidFill>
              </a:rPr>
              <a:t>GoogleTranslator</a:t>
            </a:r>
            <a:r>
              <a:rPr sz="1200" dirty="0">
                <a:solidFill>
                  <a:srgbClr val="334155"/>
                </a:solidFill>
              </a:rPr>
              <a:t> engine) for real-time multilingual news translation.</a:t>
            </a:r>
          </a:p>
          <a:p>
            <a:pPr>
              <a:spcBef>
                <a:spcPts val="1000"/>
              </a:spcBef>
            </a:pPr>
            <a:r>
              <a:rPr sz="1250" b="1" dirty="0">
                <a:solidFill>
                  <a:srgbClr val="0F172A"/>
                </a:solidFill>
              </a:rPr>
              <a:t>🔹 Hardware / Client Devices: </a:t>
            </a:r>
            <a:r>
              <a:rPr sz="1200" dirty="0">
                <a:solidFill>
                  <a:srgbClr val="334155"/>
                </a:solidFill>
              </a:rPr>
              <a:t>Any mobile smartphone (Android/iOS), tablet, or desktop PC. Zero external sensors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276"/>
                </a:solidFill>
                <a:latin typeface="Calibri"/>
              </a:defRPr>
            </a:pPr>
            <a:r>
              <a:t>⚙️ Methodology &amp; Process (Working Prototype Flow)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➡️ Step 1: Soil &amp; Weather Input Ingestion: </a:t>
            </a:r>
            <a:r>
              <a:rPr sz="1150">
                <a:solidFill>
                  <a:srgbClr val="334155"/>
                </a:solidFill>
              </a:rPr>
              <a:t>Farmer enters soil N-P-K &amp; pH from Soil Health Card; app fetches local ambient temperature &amp; humidity automatically via GPS.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➡️ Step 2: ML Inference Execution: </a:t>
            </a:r>
            <a:r>
              <a:rPr sz="1150">
                <a:solidFill>
                  <a:srgbClr val="334155"/>
                </a:solidFill>
              </a:rPr>
              <a:t>FastAPI passes features to serialized Random Forest model; returns top 3 ranked crops with confidence scores in under 15ms.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➡️ Step 3: Economic Viability Matching: </a:t>
            </a:r>
            <a:r>
              <a:rPr sz="1150">
                <a:solidFill>
                  <a:srgbClr val="334155"/>
                </a:solidFill>
              </a:rPr>
              <a:t>Inference matches crop against crop_economics database to compute expected yield in quintals and projected net profit (₹).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➡️ Step 4: Hyperlocal Monitoring &amp; Advisory: </a:t>
            </a:r>
            <a:r>
              <a:rPr sz="1150">
                <a:solidFill>
                  <a:srgbClr val="334155"/>
                </a:solidFill>
              </a:rPr>
              <a:t>Weather radar continuously evaluates rain/humidity thresholds to push timely irrigation and disease mitigation advisories.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➡️ Step 5: Client PWA Rendering: </a:t>
            </a:r>
            <a:r>
              <a:rPr sz="1150">
                <a:solidFill>
                  <a:srgbClr val="334155"/>
                </a:solidFill>
              </a:rPr>
              <a:t>Results render instantly in English, Hindi, or Marathi with local session persistence across browser refreshes.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068E0-DC43-3D5D-2163-81DFEE1B7732}"/>
              </a:ext>
            </a:extLst>
          </p:cNvPr>
          <p:cNvSpPr txBox="1"/>
          <p:nvPr/>
        </p:nvSpPr>
        <p:spPr>
          <a:xfrm>
            <a:off x="3958542" y="68290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Feasibility Analysis, Challenges &amp; Mitigation Strategies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Systematic risk assessment and strategic engineering mitigations ensuring high operational viability.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 dirty="0"/>
              <a:t>1. Analysis of Feasibility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0F172A"/>
                </a:solidFill>
              </a:rPr>
              <a:t>• Technical Feasibility: </a:t>
            </a:r>
            <a:r>
              <a:rPr sz="1200" dirty="0">
                <a:solidFill>
                  <a:srgbClr val="334155"/>
                </a:solidFill>
              </a:rPr>
              <a:t>High. Model trained on proven agricultural datasets with 99%+ validation accuracy. </a:t>
            </a:r>
            <a:r>
              <a:rPr sz="1200" dirty="0" err="1">
                <a:solidFill>
                  <a:srgbClr val="334155"/>
                </a:solidFill>
              </a:rPr>
              <a:t>FastAPI</a:t>
            </a:r>
            <a:r>
              <a:rPr sz="1200" dirty="0">
                <a:solidFill>
                  <a:srgbClr val="334155"/>
                </a:solidFill>
              </a:rPr>
              <a:t> responds in &lt;20ms.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0F172A"/>
                </a:solidFill>
              </a:rPr>
              <a:t>• Economic Feasibility: </a:t>
            </a:r>
            <a:r>
              <a:rPr sz="1200" dirty="0">
                <a:solidFill>
                  <a:srgbClr val="334155"/>
                </a:solidFill>
              </a:rPr>
              <a:t>High. Zero licensing costs. Powered by open-source libraries and quota-free satellite meteorological endpoints.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0F172A"/>
                </a:solidFill>
              </a:rPr>
              <a:t>• Operational Feasibility: </a:t>
            </a:r>
            <a:r>
              <a:rPr sz="1200" dirty="0">
                <a:solidFill>
                  <a:srgbClr val="334155"/>
                </a:solidFill>
              </a:rPr>
              <a:t>High. Simple 1-click mobile interface designed for farmers of varying digital literacy without training.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0F172A"/>
                </a:solidFill>
              </a:rPr>
              <a:t>• Scalability Feasibility: </a:t>
            </a:r>
            <a:r>
              <a:rPr sz="1200" dirty="0">
                <a:solidFill>
                  <a:srgbClr val="334155"/>
                </a:solidFill>
              </a:rPr>
              <a:t>High. Stateless REST backend can easily handle 100,000+ concurrent requests on affordable cloud servers.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2. Potential Challenges &amp; Risks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Intermittent Rural Internet: </a:t>
            </a:r>
            <a:r>
              <a:rPr sz="1200">
                <a:solidFill>
                  <a:srgbClr val="334155"/>
                </a:solidFill>
              </a:rPr>
              <a:t>Remote agricultural fields often have poor 2G/3G connectivity or frequent network drops.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Soil Data Availability: </a:t>
            </a:r>
            <a:r>
              <a:rPr sz="1200">
                <a:solidFill>
                  <a:srgbClr val="334155"/>
                </a:solidFill>
              </a:rPr>
              <a:t>Some smallholder farmers may not have an updated government Soil Health Card on hand.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Volatile Market Fluctuations: </a:t>
            </a:r>
            <a:r>
              <a:rPr sz="1200">
                <a:solidFill>
                  <a:srgbClr val="334155"/>
                </a:solidFill>
              </a:rPr>
              <a:t>Mandi prices can swing abruptly due to localized supply gluts or unseasonal weather shocks.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User Digital Hesitation: </a:t>
            </a:r>
            <a:r>
              <a:rPr sz="1200">
                <a:solidFill>
                  <a:srgbClr val="334155"/>
                </a:solidFill>
              </a:rPr>
              <a:t>Farmers accustomed to verbal advice may be skeptical of automated digital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3. Mitigation Strategies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Offline PWA Caching: </a:t>
            </a:r>
            <a:r>
              <a:rPr sz="1200">
                <a:solidFill>
                  <a:srgbClr val="334155"/>
                </a:solidFill>
              </a:rPr>
              <a:t>Service Worker caches UI assets, guides, and previous recommendations for seamless offline access.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Default Regional Soil Profiles: </a:t>
            </a:r>
            <a:r>
              <a:rPr sz="1200">
                <a:solidFill>
                  <a:srgbClr val="334155"/>
                </a:solidFill>
              </a:rPr>
              <a:t>Provides regional default presets (Black soil, Alluvial, Red soil) if exact NPK numbers are unknown.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Live Dynamic Fluctuation: </a:t>
            </a:r>
            <a:r>
              <a:rPr sz="1200">
                <a:solidFill>
                  <a:srgbClr val="334155"/>
                </a:solidFill>
              </a:rPr>
              <a:t>Backend factors in daily price ranges and mandi benchmarks to provide realistic expected profit bounds.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</a:rPr>
              <a:t>• Vernacular Voice &amp; Trust: </a:t>
            </a:r>
            <a:r>
              <a:rPr sz="1200">
                <a:solidFill>
                  <a:srgbClr val="334155"/>
                </a:solidFill>
              </a:rPr>
              <a:t>Full Hindi/Marathi localization, helpline numbers, and transparent matching explanations build farmer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Potential Impact on Target Audience &amp; Solution Benefits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Driving measurable socio-economic transformation and environmental sustainability across rural India.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5803D"/>
                </a:solidFill>
                <a:latin typeface="Calibri"/>
              </a:defRPr>
            </a:pPr>
            <a:r>
              <a:rPr dirty="0"/>
              <a:t>🎯 Potential Impact on Target Audience (Small &amp; Marginal Farmers)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0F172A"/>
                </a:solidFill>
              </a:rPr>
              <a:t>✔ 20% to 35% Yield Increase: </a:t>
            </a:r>
            <a:r>
              <a:rPr sz="1250" dirty="0">
                <a:solidFill>
                  <a:srgbClr val="334155"/>
                </a:solidFill>
              </a:rPr>
              <a:t>Scientifically pairing crops with soil chemistry ensures optimal plant nutrition and reduces crop mortality.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0F172A"/>
                </a:solidFill>
              </a:rPr>
              <a:t>✔ 15% to 25% Income Growth: </a:t>
            </a:r>
            <a:r>
              <a:rPr sz="1250" dirty="0">
                <a:solidFill>
                  <a:srgbClr val="334155"/>
                </a:solidFill>
              </a:rPr>
              <a:t>Direct price transparency arms farmers with benchmark mandi rates, eliminating middleman exploitation.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0F172A"/>
                </a:solidFill>
              </a:rPr>
              <a:t>✔ Rapid Welfare Adoption: </a:t>
            </a:r>
            <a:r>
              <a:rPr sz="1250" dirty="0">
                <a:solidFill>
                  <a:srgbClr val="334155"/>
                </a:solidFill>
              </a:rPr>
              <a:t>Direct portal links and verified toll-free helplines ensure 100% of eligible farmers claim PM-KISAN &amp; Fasal Bima subsidies.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32841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rPr dirty="0"/>
              <a:t>👥 Social Benefits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0F172A"/>
                </a:solidFill>
              </a:rPr>
              <a:t>• Language Inclusion: </a:t>
            </a:r>
            <a:r>
              <a:rPr sz="1150" dirty="0">
                <a:solidFill>
                  <a:srgbClr val="334155"/>
                </a:solidFill>
              </a:rPr>
              <a:t>Full Marathi and Hindi support breaks English-only digital privilege.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0F172A"/>
                </a:solidFill>
              </a:rPr>
              <a:t>• Dignity &amp; Fair Trade: </a:t>
            </a:r>
            <a:r>
              <a:rPr sz="1150" dirty="0">
                <a:solidFill>
                  <a:srgbClr val="334155"/>
                </a:solidFill>
              </a:rPr>
              <a:t>Farmers become informed market negotiators rather than passive price takers.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0F172A"/>
                </a:solidFill>
              </a:rPr>
              <a:t>• Rural Digital Literacy: </a:t>
            </a:r>
            <a:r>
              <a:rPr sz="1150" dirty="0">
                <a:solidFill>
                  <a:srgbClr val="334155"/>
                </a:solidFill>
              </a:rPr>
              <a:t>Familiarizes agrarian youth with practical AI and digital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3931920"/>
            <a:ext cx="332841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💰 Economic Benefits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</a:rPr>
              <a:t>• Reduced Input Waste: </a:t>
            </a:r>
            <a:r>
              <a:rPr sz="1150">
                <a:solidFill>
                  <a:srgbClr val="334155"/>
                </a:solidFill>
              </a:rPr>
              <a:t>Prevents buying expensive seeds unsuited for local soil chemistry.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</a:rPr>
              <a:t>• Higher Profit Margins: </a:t>
            </a:r>
            <a:r>
              <a:rPr sz="1150">
                <a:solidFill>
                  <a:srgbClr val="334155"/>
                </a:solidFill>
              </a:rPr>
              <a:t>Guides farmers toward high-value cash crops with proven local demand.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</a:rPr>
              <a:t>• Debt Prevention: </a:t>
            </a:r>
            <a:r>
              <a:rPr sz="1150">
                <a:solidFill>
                  <a:srgbClr val="334155"/>
                </a:solidFill>
              </a:rPr>
              <a:t>Lowers harvest failure rates, preventing predatory private moneylender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3931920"/>
            <a:ext cx="332841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🌱 Environmental Benefits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</a:rPr>
              <a:t>• Water Conservation: </a:t>
            </a:r>
            <a:r>
              <a:rPr sz="1150">
                <a:solidFill>
                  <a:srgbClr val="334155"/>
                </a:solidFill>
              </a:rPr>
              <a:t>Smart irrigation alerts stop overwatering before scheduled rain events.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</a:rPr>
              <a:t>• Soil Health Preservation: </a:t>
            </a:r>
            <a:r>
              <a:rPr sz="1150">
                <a:solidFill>
                  <a:srgbClr val="334155"/>
                </a:solidFill>
              </a:rPr>
              <a:t>Crop rotation suggestions prevent monoculture soil nutrient depletion.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</a:rPr>
              <a:t>• Targeted Pesticide Use: </a:t>
            </a:r>
            <a:r>
              <a:rPr sz="1150">
                <a:solidFill>
                  <a:srgbClr val="334155"/>
                </a:solidFill>
              </a:rPr>
              <a:t>Humidity alerts prevent unnecessary preventive chemical pesticide spraying.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Details &amp; Links of Reference and Research Work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Academic benchmarks, government portals, datasets, and open meteorological foundations.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rPr dirty="0"/>
              <a:t>📚 Academic Research &amp; ML Literature</a:t>
            </a:r>
          </a:p>
          <a:p>
            <a:pPr>
              <a:spcBef>
                <a:spcPts val="1200"/>
              </a:spcBef>
            </a:pPr>
            <a:r>
              <a:rPr sz="1150" b="1" dirty="0">
                <a:solidFill>
                  <a:srgbClr val="0F172A"/>
                </a:solidFill>
              </a:rPr>
              <a:t>🔗 Crop Recommendation Benchmark: </a:t>
            </a:r>
            <a:r>
              <a:rPr sz="1150" dirty="0">
                <a:solidFill>
                  <a:srgbClr val="334155"/>
                </a:solidFill>
              </a:rPr>
              <a:t>P. S. Nishant et al., 'Crop Yield Prediction based on Indian Agriculture using Machine Learning', IEEE Access.</a:t>
            </a:r>
          </a:p>
          <a:p>
            <a:pPr>
              <a:spcBef>
                <a:spcPts val="1200"/>
              </a:spcBef>
            </a:pPr>
            <a:r>
              <a:rPr sz="1150" b="1" dirty="0">
                <a:solidFill>
                  <a:srgbClr val="0F172A"/>
                </a:solidFill>
              </a:rPr>
              <a:t>🔗 Soil Chemistry Modelling: </a:t>
            </a:r>
            <a:r>
              <a:rPr sz="1150" dirty="0">
                <a:solidFill>
                  <a:srgbClr val="334155"/>
                </a:solidFill>
              </a:rPr>
              <a:t>Indian Council of Agricultural Research (ICAR) Guidelines on Soil Health Card N-P-K thresholds and soil pH optimization.</a:t>
            </a:r>
          </a:p>
          <a:p>
            <a:pPr>
              <a:spcBef>
                <a:spcPts val="1200"/>
              </a:spcBef>
            </a:pPr>
            <a:r>
              <a:rPr sz="1150" b="1" dirty="0">
                <a:solidFill>
                  <a:srgbClr val="0F172A"/>
                </a:solidFill>
              </a:rPr>
              <a:t>🔗 Ensemble Learning Efficacy: </a:t>
            </a:r>
            <a:r>
              <a:rPr sz="1150" dirty="0" err="1">
                <a:solidFill>
                  <a:srgbClr val="334155"/>
                </a:solidFill>
              </a:rPr>
              <a:t>Breiman</a:t>
            </a:r>
            <a:r>
              <a:rPr sz="1150" dirty="0">
                <a:solidFill>
                  <a:srgbClr val="334155"/>
                </a:solidFill>
              </a:rPr>
              <a:t>, Leo. 'Random Forests', Machine Learning Journal — justification for multi-tree non-linear agronomic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📊 Datasets &amp; Open Government Data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Crop Recommendation Dataset: </a:t>
            </a:r>
            <a:r>
              <a:rPr sz="1150">
                <a:solidFill>
                  <a:srgbClr val="334155"/>
                </a:solidFill>
              </a:rPr>
              <a:t>Kaggle &amp; Data.gov.in Agricultural Repository (2,200 verified soil &amp; climate data points across 22 crops).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Agmarknet Mandi Pricing: </a:t>
            </a:r>
            <a:r>
              <a:rPr sz="1150">
                <a:solidFill>
                  <a:srgbClr val="334155"/>
                </a:solidFill>
              </a:rPr>
              <a:t>Ministry of Agriculture &amp; Farmers Welfare, Government of India (Price trends and modal wholesale rates).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Crop Economics Catalog: </a:t>
            </a:r>
            <a:r>
              <a:rPr sz="1150">
                <a:solidFill>
                  <a:srgbClr val="334155"/>
                </a:solidFill>
              </a:rPr>
              <a:t>Custom empirical matrix of baseline yield (quintals/acre) and wholesale support benchmarks across Indian agricultural 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🌐 Verified Government Portals &amp; Real-Time APIs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PM-KISAN Samman Nidhi: </a:t>
            </a:r>
            <a:r>
              <a:rPr sz="1150">
                <a:solidFill>
                  <a:srgbClr val="334155"/>
                </a:solidFill>
              </a:rPr>
              <a:t>https://pmkisan.gov.in/ (Official Direct Benefit Transfer portal &amp; status lookup).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Pradhan Mantri Fasal Bima Yojana: </a:t>
            </a:r>
            <a:r>
              <a:rPr sz="1150">
                <a:solidFill>
                  <a:srgbClr val="334155"/>
                </a:solidFill>
              </a:rPr>
              <a:t>https://pmfby.gov.in/ (National Crop Insurance portal, premium calculator &amp; claim guidelines).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Open-Meteo Weather API: </a:t>
            </a:r>
            <a:r>
              <a:rPr sz="1150">
                <a:solidFill>
                  <a:srgbClr val="334155"/>
                </a:solidFill>
              </a:rPr>
              <a:t>https://open-meteo.com/ (Global WMO satellite meteorological and 7-day precipitation forecasts).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F172A"/>
                </a:solidFill>
              </a:rPr>
              <a:t>🔗 OpenStreetMap Nominatim: </a:t>
            </a:r>
            <a:r>
              <a:rPr sz="1150">
                <a:solidFill>
                  <a:srgbClr val="334155"/>
                </a:solidFill>
              </a:rPr>
              <a:t>https://nominatim.openstreetmap.org/ (Hyperlocal reverse geocoding for pinpoint village detection).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1660</Words>
  <Application>Microsoft Office PowerPoint</Application>
  <PresentationFormat>Widescreen</PresentationFormat>
  <Paragraphs>97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tejas ahire</cp:lastModifiedBy>
  <cp:revision>2</cp:revision>
  <dcterms:created xsi:type="dcterms:W3CDTF">2013-01-27T09:14:16Z</dcterms:created>
  <dcterms:modified xsi:type="dcterms:W3CDTF">2026-09-03T17:53:26Z</dcterms:modified>
  <cp:category/>
</cp:coreProperties>
</file>
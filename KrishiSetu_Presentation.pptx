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2926080" cy="3657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6534"/>
                </a:solidFill>
                <a:latin typeface="Calibri"/>
              </a:defRPr>
            </a:pPr>
            <a:r>
              <a:t>🌾 HACKATHON INNOVATION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4472A0"/>
                </a:solidFill>
                <a:latin typeface="Georgia"/>
              </a:defRPr>
            </a:pPr>
            <a:r>
              <a:t>KrishiSetu (कृषिसेतू)</a:t>
            </a:r>
          </a:p>
          <a:p>
            <a:pPr>
              <a:spcBef>
                <a:spcPts val="800"/>
              </a:spcBef>
              <a:defRPr sz="2200">
                <a:solidFill>
                  <a:srgbClr val="0F172A"/>
                </a:solidFill>
                <a:latin typeface="Calibri"/>
              </a:defRPr>
            </a:pPr>
            <a:r>
              <a:t>AI-Driven Smart Farming &amp; Agricultural Decision Support System</a:t>
            </a:r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A progressive web application empowering farmers with soil-smart crop planning, live mandi rates, hyperlocal weather alerts, and verified government schemes in their mother tongue.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3328416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🤖 AI Next Crop Recommendation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Trained ML model analyzes soil NPK, pH &amp; weather to predict best yield and profit.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4114800"/>
            <a:ext cx="3328416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📈 Live Mandi &amp; Weather Alerts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Dynamic market price fluctuation and real-time weather alerts fetched via Open-Meteo.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4114800"/>
            <a:ext cx="3328416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🌐 Trilingual &amp; PWA Ready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Available in English, Hindi &amp; Marathi with real-time news translation and phone installation.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472A0"/>
                </a:solidFill>
                <a:latin typeface="Georgia"/>
              </a:defRPr>
            </a:pPr>
            <a:r>
              <a:t>Overview of Idea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Bridging the digital gap between complex agricultural science and everyday Indian farmers.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472A0"/>
                </a:solidFill>
                <a:latin typeface="Calibri"/>
              </a:defRPr>
            </a:pPr>
            <a:r>
              <a:t>💡 The Core Vision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0F172A"/>
                </a:solidFill>
              </a:rPr>
              <a:t>• Empower Smallholders: </a:t>
            </a:r>
            <a:r>
              <a:rPr sz="1350">
                <a:solidFill>
                  <a:srgbClr val="334155"/>
                </a:solidFill>
              </a:rPr>
              <a:t>Provide institutional-grade agronomy intelligence directly to small and marginal farmers without high costs.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0F172A"/>
                </a:solidFill>
              </a:rPr>
              <a:t>• End-to-End Farm Lifecycle: </a:t>
            </a:r>
            <a:r>
              <a:rPr sz="1350">
                <a:solidFill>
                  <a:srgbClr val="334155"/>
                </a:solidFill>
              </a:rPr>
              <a:t>Support the farmer from soil preparation (Crop Planning) through cultivation (Advisory &amp; Weather) to monetization (Live Mandi Prices).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0F172A"/>
                </a:solidFill>
              </a:rPr>
              <a:t>• Native Language Access: </a:t>
            </a:r>
            <a:r>
              <a:rPr sz="1350">
                <a:solidFill>
                  <a:srgbClr val="334155"/>
                </a:solidFill>
              </a:rPr>
              <a:t>Remove English-only barriers by delivering complete UI and live translated agricultural news in Hindi and Marathi.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0F172A"/>
                </a:solidFill>
              </a:rPr>
              <a:t>• Installable Mobile Web (PWA): </a:t>
            </a:r>
            <a:r>
              <a:rPr sz="1350">
                <a:solidFill>
                  <a:srgbClr val="334155"/>
                </a:solidFill>
              </a:rPr>
              <a:t>Runs directly on any basic smartphone without requiring heavy app store downloads, functioning seamlessly on 4G/WiFi.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472A0"/>
                </a:solidFill>
                <a:latin typeface="Calibri"/>
              </a:defRPr>
            </a:pPr>
            <a:r>
              <a:t>🌟 Key Pillars of KrishiSetu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0F172A"/>
                </a:solidFill>
              </a:rPr>
              <a:t>• 1. Data-Driven Precision: </a:t>
            </a:r>
            <a:r>
              <a:rPr sz="1350">
                <a:solidFill>
                  <a:srgbClr val="334155"/>
                </a:solidFill>
              </a:rPr>
              <a:t>Replaces guesswork and traditional habits with ML-powered soil matching (NPK, pH, Temperature, Humidity, Rainfall).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0F172A"/>
                </a:solidFill>
              </a:rPr>
              <a:t>• 2. Economic Transparency: </a:t>
            </a:r>
            <a:r>
              <a:rPr sz="1350">
                <a:solidFill>
                  <a:srgbClr val="334155"/>
                </a:solidFill>
              </a:rPr>
              <a:t>Provides expected yield in quintals, live mandi rate per quintal, and projected net profit before sowing a single seed.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0F172A"/>
                </a:solidFill>
              </a:rPr>
              <a:t>• 3. Proactive Protection: </a:t>
            </a:r>
            <a:r>
              <a:rPr sz="1350">
                <a:solidFill>
                  <a:srgbClr val="334155"/>
                </a:solidFill>
              </a:rPr>
              <a:t>Real-time weather radar triggers automatic warnings for heat stress, fungal risks, and heavy rainfall.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0F172A"/>
                </a:solidFill>
              </a:rPr>
              <a:t>• 4. Genuine Empowerment: </a:t>
            </a:r>
            <a:r>
              <a:rPr sz="1350">
                <a:solidFill>
                  <a:srgbClr val="334155"/>
                </a:solidFill>
              </a:rPr>
              <a:t>Direct access to official government subsidies (PM-KISAN, PMFBY, KCC) with verified helplines and portals.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E65073"/>
                </a:solidFill>
                <a:latin typeface="Georgia"/>
              </a:defRPr>
            </a:pPr>
            <a:r>
              <a:t>Problem Statement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The critical bottlenecks trapping Indian agriculture in recurring cycles of debt and crop failure.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65073"/>
                </a:solidFill>
                <a:latin typeface="Calibri"/>
              </a:defRPr>
            </a:pPr>
            <a:r>
              <a:t>📉 Suboptimal Crop Choices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Farmers plant the same crop every year regardless of declining soil nutrients, leading to poor yield, soil depletion, and devastating financial losses.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65073"/>
                </a:solidFill>
                <a:latin typeface="Calibri"/>
              </a:defRPr>
            </a:pPr>
            <a:r>
              <a:t>💸 Middlemen &amp; Asymmetric Pricing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Without transparent, live market rates, farmers are forced to sell harvested crops to local traders at throwaway rates below actual market 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65073"/>
                </a:solidFill>
                <a:latin typeface="Calibri"/>
              </a:defRPr>
            </a:pPr>
            <a:r>
              <a:t>🌧️ Unpredictable Weather &amp; Pest Outbreaks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Sudden rains and high humidity cause disease outbreaks (fungal rot, pest attacks). Farmers lack real-time localized warnings to take preventive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65073"/>
                </a:solidFill>
                <a:latin typeface="Calibri"/>
              </a:defRPr>
            </a:pPr>
            <a:r>
              <a:t>📜 Complex Scheme Navigation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Billions of rupees in government welfare (PM-KISAN, Fasal Bima) remain uncollected due to fraudulent fake forms, confusing rules, and lack of official portal links.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472A0"/>
                </a:solidFill>
                <a:latin typeface="Georgia"/>
              </a:defRPr>
            </a:pPr>
            <a:r>
              <a:t>Existing Solution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Current agricultural tools fail to meet the practical needs of grassroots Indian farmers.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DC2626"/>
                </a:solidFill>
                <a:latin typeface="Calibri"/>
              </a:defRPr>
            </a:pPr>
            <a:r>
              <a:t>❌ Limitations of Current Alternatives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F172A"/>
                </a:solidFill>
              </a:rPr>
              <a:t>• Fragmented Services: </a:t>
            </a:r>
            <a:r>
              <a:rPr sz="1300">
                <a:solidFill>
                  <a:srgbClr val="334155"/>
                </a:solidFill>
              </a:rPr>
              <a:t>Weather apps only show temperature; mandi apps only list commodities; no single platform links soil science with market profit.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F172A"/>
                </a:solidFill>
              </a:rPr>
              <a:t>• Generic National Forecasts: </a:t>
            </a:r>
            <a:r>
              <a:rPr sz="1300">
                <a:solidFill>
                  <a:srgbClr val="334155"/>
                </a:solidFill>
              </a:rPr>
              <a:t>Standard weather apps give city-wide forecasts that fail to capture farm-level microclimates and irrigation needs.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F172A"/>
                </a:solidFill>
              </a:rPr>
              <a:t>• English Dominance: </a:t>
            </a:r>
            <a:r>
              <a:rPr sz="1300">
                <a:solidFill>
                  <a:srgbClr val="334155"/>
                </a:solidFill>
              </a:rPr>
              <a:t>Most sophisticated agri-tech platforms are designed in English, alienating rural farmers who speak Marathi, Hindi, or local dialects.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F172A"/>
                </a:solidFill>
              </a:rPr>
              <a:t>• Heavy Native App Requirements: </a:t>
            </a:r>
            <a:r>
              <a:rPr sz="1300">
                <a:solidFill>
                  <a:srgbClr val="334155"/>
                </a:solidFill>
              </a:rPr>
              <a:t>Require 100MB+ Google Play downloads, complex logins, and heavy memory that slow down budget smartphones.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F172A"/>
                </a:solidFill>
              </a:rPr>
              <a:t>• Static &amp; Outdated Information: </a:t>
            </a:r>
            <a:r>
              <a:rPr sz="1300">
                <a:solidFill>
                  <a:srgbClr val="334155"/>
                </a:solidFill>
              </a:rPr>
              <a:t>Display static, non-fluctuating prices that do not reflect true daily mandi trading conditions.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4472A0"/>
                </a:solidFill>
                <a:latin typeface="Calibri"/>
              </a:defRPr>
            </a:pPr>
            <a:r>
              <a:t>⚖️ How KrishiSetu Compares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F172A"/>
                </a:solidFill>
              </a:rPr>
              <a:t>✓ All-in-One Dashboard: </a:t>
            </a:r>
            <a:r>
              <a:rPr sz="1300">
                <a:solidFill>
                  <a:srgbClr val="334155"/>
                </a:solidFill>
              </a:rPr>
              <a:t>Combines ML crop planning, live mandi rates, weather advisory, and schemes under one unified interface.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F172A"/>
                </a:solidFill>
              </a:rPr>
              <a:t>✓ Actionable Weather: </a:t>
            </a:r>
            <a:r>
              <a:rPr sz="1300">
                <a:solidFill>
                  <a:srgbClr val="334155"/>
                </a:solidFill>
              </a:rPr>
              <a:t>Translates raw weather metrics into direct farm action items such as irrigation pause or heat shielding.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F172A"/>
                </a:solidFill>
              </a:rPr>
              <a:t>✓ Dynamic Live Translation: </a:t>
            </a:r>
            <a:r>
              <a:rPr sz="1300">
                <a:solidFill>
                  <a:srgbClr val="334155"/>
                </a:solidFill>
              </a:rPr>
              <a:t>Uses Python AI translation to convert live national RSS feeds into Hindi and Marathi on the fly.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F172A"/>
                </a:solidFill>
              </a:rPr>
              <a:t>✓ Lightweight PWA: </a:t>
            </a:r>
            <a:r>
              <a:rPr sz="1300">
                <a:solidFill>
                  <a:srgbClr val="334155"/>
                </a:solidFill>
              </a:rPr>
              <a:t>Loads in under 1 second in any mobile browser with single-click Install to Home Screen support.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0F172A"/>
                </a:solidFill>
              </a:rPr>
              <a:t>✓ Full Economic Clarity: </a:t>
            </a:r>
            <a:r>
              <a:rPr sz="1300">
                <a:solidFill>
                  <a:srgbClr val="334155"/>
                </a:solidFill>
              </a:rPr>
              <a:t>Calculates expected yield in quintals and total expected profit (₹) across 22 crops.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E65073"/>
                </a:solidFill>
                <a:latin typeface="Georgia"/>
              </a:defRPr>
            </a:pPr>
            <a:r>
              <a:t>Proposed Solution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KrishiSetu: A unified, AI-powered digital ecosystem built specifically for grassroots agriculture.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5073"/>
                </a:solidFill>
                <a:latin typeface="Calibri"/>
              </a:defRPr>
            </a:pPr>
            <a:r>
              <a:t>🌱 Next Crop Recommendation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Proprietary ML model ingests 7 parameters: Nitrogen (N), Phosphorus (P), Potassium (K), Soil pH, Ambient Temp, Humidity, and Rainfall. Instantly ranks top matching crops with confidence percentage, expected yield, and profit projections.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64592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5073"/>
                </a:solidFill>
                <a:latin typeface="Calibri"/>
              </a:defRPr>
            </a:pPr>
            <a:r>
              <a:t>📊 Real-Time Farmer Dashboard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Provides an instant morning snapshot tailored to the farmer current crop: daily mandi price, local weather, active alerts, and immediate agricultural action items for the 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64592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5073"/>
                </a:solidFill>
                <a:latin typeface="Calibri"/>
              </a:defRPr>
            </a:pPr>
            <a:r>
              <a:t>💰 Live Mandi Price Tracking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Tracks fluctuating market prices for commodities across major regional markets, preventing exploitation by giving farmers transparent negotiation power.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5073"/>
                </a:solidFill>
                <a:latin typeface="Calibri"/>
              </a:defRPr>
            </a:pPr>
            <a:r>
              <a:t>🛡️ Hyperlocal Advisory &amp; Alerts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Monitors humidity and heat thresholds in real time to alert farmers about specific threats (e.g. fungal risks when humidity &gt; 75%, spider mite threats during dry heat).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93192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5073"/>
                </a:solidFill>
                <a:latin typeface="Calibri"/>
              </a:defRPr>
            </a:pPr>
            <a:r>
              <a:t>🏛️ Verified Government Scheme Hub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Direct access to PM-KISAN, PMFBY, KCC, and PMKSY. Details exact eligibility criteria, required documents, and official helpline numbers with direct portal 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393192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5073"/>
                </a:solidFill>
                <a:latin typeface="Calibri"/>
              </a:defRPr>
            </a:pPr>
            <a:r>
              <a:t>🌐 Multilingual AI News Engine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Scrapes live national agricultural news feeds and dynamically translates articles into Hindi and Marathi, keeping farmers updated on agricultural policies and MSP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472A0"/>
                </a:solidFill>
                <a:latin typeface="Georgia"/>
              </a:defRPr>
            </a:pPr>
            <a:r>
              <a:t>Methodology and process for implementation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End-to-end engineering workflow from model training to client-side PWA rendering.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472A0"/>
                </a:solidFill>
                <a:latin typeface="Calibri"/>
              </a:defRPr>
            </a:pPr>
            <a:r>
              <a:t>Step 1: Data Acquisition &amp; Preprocessing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Compiled high-dimensional agronomic datasets containing soil chemistry (N-P-K-pH), precipitation logs, and thermal dynamics for 22 Indian agricultural crops. Cleaned and normalized feature distributions.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78608"/>
            <a:ext cx="1069848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472A0"/>
                </a:solidFill>
                <a:latin typeface="Calibri"/>
              </a:defRPr>
            </a:pPr>
            <a:r>
              <a:t>Step 2: Model Architecture &amp; Training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Trained a Random Forest Classifier using scikit-learn. Evaluated cross-validation metrics to achieve optimal generalization. Exported optimized model artifacts via joblib with serialized label encoders.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11296"/>
            <a:ext cx="1069848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472A0"/>
                </a:solidFill>
                <a:latin typeface="Calibri"/>
              </a:defRPr>
            </a:pPr>
            <a:r>
              <a:t>Step 3: High-Performance FastAPI Microservice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Engineered asynchronous RESTful endpoints for ML inference (/api/crop-recommendation), mandi economics (/api/market-prices), weather ingestion (/weather), and authentication.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43984"/>
            <a:ext cx="1069848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472A0"/>
                </a:solidFill>
                <a:latin typeface="Calibri"/>
              </a:defRPr>
            </a:pPr>
            <a:r>
              <a:t>Step 4: Real-Time Translation &amp; External Ingestion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Integrated Open-Meteo satellite APIs for keyless weather forecasting, Nominatim for reverse geocoding, and GoogleTranslator (deep-translator) to translate RSS news feeds on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76672"/>
            <a:ext cx="1069848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472A0"/>
                </a:solidFill>
                <a:latin typeface="Calibri"/>
              </a:defRPr>
            </a:pPr>
            <a:r>
              <a:t>Step 5: Responsive Client-Side PWA Application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Built with React 18 and Vite. Implemented localStorage session persistence, dynamic theme variables, i18n localization contexts, and service worker caching for offline mobile capability.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472A0"/>
                </a:solidFill>
                <a:latin typeface="Georgia"/>
              </a:defRPr>
            </a:pPr>
            <a:r>
              <a:t>Engineering Design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Modular 3-tier full-stack architecture ensuring high scalability, speed, and fault tolerance.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472A0"/>
                </a:solidFill>
                <a:latin typeface="Calibri"/>
              </a:defRPr>
            </a:pPr>
            <a:r>
              <a:t>Client Tier (Frontend)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Framework: </a:t>
            </a:r>
            <a:r>
              <a:rPr sz="1150">
                <a:solidFill>
                  <a:srgbClr val="334155"/>
                </a:solidFill>
              </a:rPr>
              <a:t>React 18 + TypeScript + Vite for ultra-fast HMR and bundle efficiency.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Styling: </a:t>
            </a:r>
            <a:r>
              <a:rPr sz="1150">
                <a:solidFill>
                  <a:srgbClr val="334155"/>
                </a:solidFill>
              </a:rPr>
              <a:t>TailwindCSS for clean responsive mobile layouts with adaptive color contrast.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PWA Service Worker: </a:t>
            </a:r>
            <a:r>
              <a:rPr sz="1150">
                <a:solidFill>
                  <a:srgbClr val="334155"/>
                </a:solidFill>
              </a:rPr>
              <a:t>vite-plugin-pwa enables offline manifest installation on iOS &amp; Android.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State Management: </a:t>
            </a:r>
            <a:r>
              <a:rPr sz="1150">
                <a:solidFill>
                  <a:srgbClr val="334155"/>
                </a:solidFill>
              </a:rPr>
              <a:t>React Context API with localStorage persistence across browser refreshes.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Multi-Language: </a:t>
            </a:r>
            <a:r>
              <a:rPr sz="1150">
                <a:solidFill>
                  <a:srgbClr val="334155"/>
                </a:solidFill>
              </a:rPr>
              <a:t>Custom i18n dictionary system covering English, Hindi, and Marathi.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645920"/>
            <a:ext cx="33832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472A0"/>
                </a:solidFill>
                <a:latin typeface="Calibri"/>
              </a:defRPr>
            </a:pPr>
            <a:r>
              <a:t>API &amp; Engine Tier (Backend)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Framework: </a:t>
            </a:r>
            <a:r>
              <a:rPr sz="1150">
                <a:solidFill>
                  <a:srgbClr val="334155"/>
                </a:solidFill>
              </a:rPr>
              <a:t>FastAPI (Python) with high-speed Uvicorn ASGI server and asynchronous request handling.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CORS Middleware: </a:t>
            </a:r>
            <a:r>
              <a:rPr sz="1150">
                <a:solidFill>
                  <a:srgbClr val="334155"/>
                </a:solidFill>
              </a:rPr>
              <a:t>Universal cross-origin resource sharing allowing local network mobile requests.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ML Inference Pipeline: </a:t>
            </a:r>
            <a:r>
              <a:rPr sz="1150">
                <a:solidFill>
                  <a:srgbClr val="334155"/>
                </a:solidFill>
              </a:rPr>
              <a:t>In-memory joblib model serving predictions in under 15ms.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Translation Service: </a:t>
            </a:r>
            <a:r>
              <a:rPr sz="1150">
                <a:solidFill>
                  <a:srgbClr val="334155"/>
                </a:solidFill>
              </a:rPr>
              <a:t>Server-side deep-translator dynamically caching translated news strings.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Mock OTP Dispatch: </a:t>
            </a:r>
            <a:r>
              <a:rPr sz="1150">
                <a:solidFill>
                  <a:srgbClr val="334155"/>
                </a:solidFill>
              </a:rPr>
              <a:t>Secure 4-digit token generation and verification for zero-friction registration.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645920"/>
            <a:ext cx="33832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472A0"/>
                </a:solidFill>
                <a:latin typeface="Calibri"/>
              </a:defRPr>
            </a:pPr>
            <a:r>
              <a:t>Data &amp; External Integration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ML Model Artifacts: </a:t>
            </a:r>
            <a:r>
              <a:rPr sz="1150">
                <a:solidFill>
                  <a:srgbClr val="334155"/>
                </a:solidFill>
              </a:rPr>
              <a:t>Pre-trained Random Forest Classifier + LabelEncoder + Feature Order configuration.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Agricultural Economics: </a:t>
            </a:r>
            <a:r>
              <a:rPr sz="1150">
                <a:solidFill>
                  <a:srgbClr val="334155"/>
                </a:solidFill>
              </a:rPr>
              <a:t>crop_economics.csv mapping 22 crops to realistic baseline yield and quintal prices.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Open-Meteo Satellite API: </a:t>
            </a:r>
            <a:r>
              <a:rPr sz="1150">
                <a:solidFill>
                  <a:srgbClr val="334155"/>
                </a:solidFill>
              </a:rPr>
              <a:t>Zero-cost, keyless real-time meteorological data and 7-day precipitation forecasts.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OpenStreetMap Nominatim: </a:t>
            </a:r>
            <a:r>
              <a:rPr sz="1150">
                <a:solidFill>
                  <a:srgbClr val="334155"/>
                </a:solidFill>
              </a:rPr>
              <a:t>Accurate reverse geocoding identifying farmer exact village/district location.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The Hindu RSS Feed: </a:t>
            </a:r>
            <a:r>
              <a:rPr sz="1150">
                <a:solidFill>
                  <a:srgbClr val="334155"/>
                </a:solidFill>
              </a:rPr>
              <a:t>Real-time syndication of national agricultural updates and trade policies.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E65073"/>
                </a:solidFill>
                <a:latin typeface="Georgia"/>
              </a:defRPr>
            </a:pPr>
            <a:r>
              <a:t>Tech Stack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Modern, industry-standard technologies powering every aspect of the KrishiSetu platform.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65073"/>
                </a:solidFill>
                <a:latin typeface="Calibri"/>
              </a:defRPr>
            </a:pPr>
            <a:r>
              <a:t>Frontend Development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React 18: </a:t>
            </a:r>
            <a:r>
              <a:rPr sz="1200">
                <a:solidFill>
                  <a:srgbClr val="334155"/>
                </a:solidFill>
              </a:rPr>
              <a:t>Component-based interactive UI with high rendering performance.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TypeScript: </a:t>
            </a:r>
            <a:r>
              <a:rPr sz="1200">
                <a:solidFill>
                  <a:srgbClr val="334155"/>
                </a:solidFill>
              </a:rPr>
              <a:t>Type-safe codebase preventing client-side runtime exceptions.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Vite 5: </a:t>
            </a:r>
            <a:r>
              <a:rPr sz="1200">
                <a:solidFill>
                  <a:srgbClr val="334155"/>
                </a:solidFill>
              </a:rPr>
              <a:t>Next-generation build tool with instant development server startup.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Tailwind CSS: </a:t>
            </a:r>
            <a:r>
              <a:rPr sz="1200">
                <a:solidFill>
                  <a:srgbClr val="334155"/>
                </a:solidFill>
              </a:rPr>
              <a:t>Utility-first modern styling optimized for mobile responsive layouts.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Lucide React: </a:t>
            </a:r>
            <a:r>
              <a:rPr sz="1200">
                <a:solidFill>
                  <a:srgbClr val="334155"/>
                </a:solidFill>
              </a:rPr>
              <a:t>Clean, lightweight SVG iconography for intuitive farmer navigation.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645920"/>
            <a:ext cx="33832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65073"/>
                </a:solidFill>
                <a:latin typeface="Calibri"/>
              </a:defRPr>
            </a:pPr>
            <a:r>
              <a:t>Backend &amp; Machine Learning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FastAPI: </a:t>
            </a:r>
            <a:r>
              <a:rPr sz="1200">
                <a:solidFill>
                  <a:srgbClr val="334155"/>
                </a:solidFill>
              </a:rPr>
              <a:t>High-throughput, asynchronous Python web framework for RESTful APIs.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Uvicorn: </a:t>
            </a:r>
            <a:r>
              <a:rPr sz="1200">
                <a:solidFill>
                  <a:srgbClr val="334155"/>
                </a:solidFill>
              </a:rPr>
              <a:t>Lightning-fast ASGI server for production-ready backend handling.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scikit-learn: </a:t>
            </a:r>
            <a:r>
              <a:rPr sz="1200">
                <a:solidFill>
                  <a:srgbClr val="334155"/>
                </a:solidFill>
              </a:rPr>
              <a:t>Industry-standard machine learning library for Random Forest modeling.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Pandas &amp; NumPy: </a:t>
            </a:r>
            <a:r>
              <a:rPr sz="1200">
                <a:solidFill>
                  <a:srgbClr val="334155"/>
                </a:solidFill>
              </a:rPr>
              <a:t>High-performance matrix manipulation and tabular data analysis.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joblib: </a:t>
            </a:r>
            <a:r>
              <a:rPr sz="1200">
                <a:solidFill>
                  <a:srgbClr val="334155"/>
                </a:solidFill>
              </a:rPr>
              <a:t>Optimized model serialization for instantaneous model loading.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645920"/>
            <a:ext cx="33832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65073"/>
                </a:solidFill>
                <a:latin typeface="Calibri"/>
              </a:defRPr>
            </a:pPr>
            <a:r>
              <a:t>APIs &amp; Localization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Open-Meteo API: </a:t>
            </a:r>
            <a:r>
              <a:rPr sz="1200">
                <a:solidFill>
                  <a:srgbClr val="334155"/>
                </a:solidFill>
              </a:rPr>
              <a:t>Free, highly reliable satellite weather data without API key quotas.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Nominatim API: </a:t>
            </a:r>
            <a:r>
              <a:rPr sz="1200">
                <a:solidFill>
                  <a:srgbClr val="334155"/>
                </a:solidFill>
              </a:rPr>
              <a:t>OpenStreetMap reverse geocoder for pinpoint village detection.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deep-translator: </a:t>
            </a:r>
            <a:r>
              <a:rPr sz="1200">
                <a:solidFill>
                  <a:srgbClr val="334155"/>
                </a:solidFill>
              </a:rPr>
              <a:t>Google Translate API wrapper for real-time news localization.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PWA Service Worker: </a:t>
            </a:r>
            <a:r>
              <a:rPr sz="1200">
                <a:solidFill>
                  <a:srgbClr val="334155"/>
                </a:solidFill>
              </a:rPr>
              <a:t>W3C Web App Manifest enabling native-like home screen installation.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🔹 LocalStorage API: </a:t>
            </a:r>
            <a:r>
              <a:rPr sz="1200">
                <a:solidFill>
                  <a:srgbClr val="334155"/>
                </a:solidFill>
              </a:rPr>
              <a:t>Client-side persistent caching of user sessions and crop profiles.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472A0"/>
                </a:solidFill>
                <a:latin typeface="Georgia"/>
              </a:defRPr>
            </a:pPr>
            <a:r>
              <a:t>Impact of the solution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Quantifiable transformation across farmer livelihoods, economic security, and rural empowerment.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66534"/>
                </a:solidFill>
                <a:latin typeface="Calibri"/>
              </a:defRPr>
            </a:pPr>
            <a:r>
              <a:t>🌾 20% to 35% Yield Improvement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Soil-matched crop selection ensures plants receive optimal nutrient absorption, drastically reducing crop failure rates.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645920"/>
            <a:ext cx="3383280" cy="2103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66534"/>
                </a:solidFill>
                <a:latin typeface="Calibri"/>
              </a:defRPr>
            </a:pPr>
            <a:r>
              <a:t>💰 15% to 25% Income Increase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By eliminating information asymmetry and displaying live mandi price benchmarks, farmers negotiate superior prices with local buyers.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645920"/>
            <a:ext cx="3383280" cy="2103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66534"/>
                </a:solidFill>
                <a:latin typeface="Calibri"/>
              </a:defRPr>
            </a:pPr>
            <a:r>
              <a:t>🛡️ Proactive Risk Mitigation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Early weather alerts prevent water waste during impending rain and allow timely fungicide application before humidity-triggered pest damage occurs.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66534"/>
                </a:solidFill>
                <a:latin typeface="Calibri"/>
              </a:defRPr>
            </a:pPr>
            <a:r>
              <a:t>🏛️ 100% Verified Scheme Uptake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Direct links to official portals and helplines eliminate predatory middlemen who charge commissions to fill PM-KISAN or crop insurance 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931920"/>
            <a:ext cx="3383280" cy="2103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66534"/>
                </a:solidFill>
                <a:latin typeface="Calibri"/>
              </a:defRPr>
            </a:pPr>
            <a:r>
              <a:t>🌍 Universal Rural Inclusion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By providing full trilingual support (Marathi, Hindi, English), KrishiSetu ensures zero literacy or linguistic barriers for rural agrarian families.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3931920"/>
            <a:ext cx="3383280" cy="2103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66534"/>
                </a:solidFill>
                <a:latin typeface="Calibri"/>
              </a:defRPr>
            </a:pPr>
            <a:r>
              <a:t>📱 Zero-Cost Scalability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Because KrishiSetu runs as a PWA on lightweight open APIs, it can onboard millions of farmers without recurring software subscription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E65073"/>
                </a:solidFill>
                <a:latin typeface="Georgia"/>
              </a:defRPr>
            </a:pPr>
            <a:r>
              <a:t>Specific areas of application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Where KrishiSetu directly intervenes across agricultural and governmental domains.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5073"/>
                </a:solidFill>
                <a:latin typeface="Calibri"/>
              </a:defRPr>
            </a:pPr>
            <a:r>
              <a:t>1. Pre-Sowing Farm Decisions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Soil Testing Labs &amp; Farmers use KrishiSetu to analyze soil test health card numbers (NPK, pH) to choose the highest-yielding crop before purchasing seed.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3154680"/>
            <a:ext cx="51206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5073"/>
                </a:solidFill>
                <a:latin typeface="Calibri"/>
              </a:defRPr>
            </a:pPr>
            <a:r>
              <a:t>2. Climate-Resilient Agriculture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Drought-prone and unseasonal rainfall zones (such as Marathwada and Vidarbha) utilize live weather triggers to adjust planting and irrigation timelines.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51206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5073"/>
                </a:solidFill>
                <a:latin typeface="Calibri"/>
              </a:defRPr>
            </a:pPr>
            <a:r>
              <a:t>3. Fair Agricultural Commerce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APMC Mandis and local farmer cooperatives leverage KrishiSetu as an independent price benchmark to protect growers from cartel pricing.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5073"/>
                </a:solidFill>
                <a:latin typeface="Calibri"/>
              </a:defRPr>
            </a:pPr>
            <a:r>
              <a:t>4. Direct Welfare Delivery (DBT)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Government Gram Panchayats and Krishi Vigyan Kendras (KVK) use the schemes directory to register eligible farmers for central and state subsidies.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1206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5073"/>
                </a:solidFill>
                <a:latin typeface="Calibri"/>
              </a:defRPr>
            </a:pPr>
            <a:r>
              <a:t>5. Cooperative Society Advisory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Rural primary agricultural credit societies (PACS) deploy KrishiSetu as a decision-support terminal for visiting farming members.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663440"/>
            <a:ext cx="512064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5073"/>
                </a:solidFill>
                <a:latin typeface="Calibri"/>
              </a:defRPr>
            </a:pPr>
            <a:r>
              <a:t>6. Agricultural Education &amp; Extension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Agri-polytechnics and student researchers use the open REST APIs and ML models to understand regional crop dynamics and soil profiles.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4472A0"/>
                </a:solidFill>
                <a:latin typeface="Georgia"/>
              </a:defRPr>
            </a:pPr>
            <a:r>
              <a:t>Conclusion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Empowering the backbone of Bharat with scalable, accessible, and intelligent technology.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472A0"/>
                </a:solidFill>
                <a:latin typeface="Calibri"/>
              </a:defRPr>
            </a:pPr>
            <a:r>
              <a:t>🏁 Conclusion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• Holistic Solution: </a:t>
            </a:r>
            <a:r>
              <a:rPr sz="1300">
                <a:solidFill>
                  <a:srgbClr val="334155"/>
                </a:solidFill>
              </a:rPr>
              <a:t>KrishiSetu demonstrates that modern artificial intelligence can be packaged into an ultra-accessible, intuitive tool for everyday farmers.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• Zero Cost Burden: </a:t>
            </a:r>
            <a:r>
              <a:rPr sz="1300">
                <a:solidFill>
                  <a:srgbClr val="334155"/>
                </a:solidFill>
              </a:rPr>
              <a:t>Built entirely with open-source frameworks and free satellite APIs, ensuring sustainable long-term operation without taxpayer strain.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• Production-Ready Prototype: </a:t>
            </a:r>
            <a:r>
              <a:rPr sz="1300">
                <a:solidFill>
                  <a:srgbClr val="334155"/>
                </a:solidFill>
              </a:rPr>
              <a:t>Fully functional React frontend, high-speed FastAPI backend, persisted authentication, and responsive mobile PWA deployed today.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• Real Social Value: </a:t>
            </a:r>
            <a:r>
              <a:rPr sz="1300">
                <a:solidFill>
                  <a:srgbClr val="334155"/>
                </a:solidFill>
              </a:rPr>
              <a:t>Directly addresses United Nations Sustainable Development Goals (SDG 1: No Poverty, SDG 2: Zero Hunger, SDG 8: Decent Work).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472A0"/>
                </a:solidFill>
                <a:latin typeface="Calibri"/>
              </a:defRPr>
            </a:pPr>
            <a:r>
              <a:t>🚀 Future Roadmap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→ Computer Vision Plant Doctor: </a:t>
            </a:r>
            <a:r>
              <a:rPr sz="1300">
                <a:solidFill>
                  <a:srgbClr val="334155"/>
                </a:solidFill>
              </a:rPr>
              <a:t>Integrate a Convolutional Neural Network (CNN) trained on PlantVillage to diagnose crop leaf diseases via mobile camera.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→ Vernacular Voice Assistant: </a:t>
            </a:r>
            <a:r>
              <a:rPr sz="1300">
                <a:solidFill>
                  <a:srgbClr val="334155"/>
                </a:solidFill>
              </a:rPr>
              <a:t>Implement speech-to-text using Web Speech API to allow illiterate farmers to speak questions in local rural Marathi and Hindi dialects.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→ WhatsApp Bot Notifications: </a:t>
            </a:r>
            <a:r>
              <a:rPr sz="1300">
                <a:solidFill>
                  <a:srgbClr val="334155"/>
                </a:solidFill>
              </a:rPr>
              <a:t>Automated WhatsApp alerts for weather warnings and mandi rate updates without needing app launch.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0F172A"/>
                </a:solidFill>
              </a:rPr>
              <a:t>→ IoT Soil Sensor Ingestion: </a:t>
            </a:r>
            <a:r>
              <a:rPr sz="1300">
                <a:solidFill>
                  <a:srgbClr val="334155"/>
                </a:solidFill>
              </a:rPr>
              <a:t>Direct hardware integration with low-cost ESP32 soil NPK probes for automated real-time soil health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